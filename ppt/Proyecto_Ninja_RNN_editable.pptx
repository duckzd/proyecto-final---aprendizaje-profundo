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73" r:id="rId13"/>
    <p:sldId id="270" r:id="rId14"/>
    <p:sldId id="271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41"/>
  </p:normalViewPr>
  <p:slideViewPr>
    <p:cSldViewPr snapToGrid="0" snapToObjects="1">
      <p:cViewPr varScale="1">
        <p:scale>
          <a:sx n="136" d="100"/>
          <a:sy n="136" d="100"/>
        </p:scale>
        <p:origin x="6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6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1B2430"/>
                </a:solidFill>
                <a:latin typeface="Calibri"/>
              </a:rPr>
              <a:t>Animar un ninja 2D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27632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A8763E"/>
                </a:solidFill>
                <a:latin typeface="Calibri"/>
              </a:rPr>
              <a:t>con una red neuronal recurrente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480560" y="2286000"/>
            <a:ext cx="3227832" cy="0"/>
          </a:xfrm>
          <a:prstGeom prst="line">
            <a:avLst/>
          </a:prstGeom>
          <a:ln w="190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_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934" y="2514600"/>
            <a:ext cx="1755971" cy="2834640"/>
          </a:xfrm>
          <a:prstGeom prst="rect">
            <a:avLst/>
          </a:prstGeom>
        </p:spPr>
      </p:pic>
      <p:pic>
        <p:nvPicPr>
          <p:cNvPr id="6" name="Picture 5" descr="p_sl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483" y="2514600"/>
            <a:ext cx="1856312" cy="2834640"/>
          </a:xfrm>
          <a:prstGeom prst="rect">
            <a:avLst/>
          </a:prstGeom>
        </p:spPr>
      </p:pic>
      <p:pic>
        <p:nvPicPr>
          <p:cNvPr id="7" name="Picture 6" descr="p_k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374" y="2514600"/>
            <a:ext cx="1755971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A8F98"/>
                </a:solidFill>
                <a:latin typeface="Calibri"/>
              </a:rPr>
              <a:t>Proyecto Final  ·  Aprendizaje Profundo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VISIÓN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En una idea: enseñar a una red a mover un ninja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A4B5C"/>
                </a:solidFill>
                <a:latin typeface="Calibri"/>
              </a:rPr>
              <a:t>Animar un personaje a mano, fotograma a fotograma, es lento y tedioso.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1B2430"/>
                </a:solidFill>
                <a:latin typeface="Calibri"/>
              </a:rPr>
              <a:t>El </a:t>
            </a:r>
            <a:r>
              <a:rPr lang="en-US" sz="1400" b="1" dirty="0" err="1">
                <a:solidFill>
                  <a:srgbClr val="1B2430"/>
                </a:solidFill>
                <a:latin typeface="Calibri"/>
              </a:rPr>
              <a:t>objetivo</a:t>
            </a:r>
            <a:r>
              <a:rPr sz="1400" b="1" i="0" dirty="0">
                <a:solidFill>
                  <a:srgbClr val="1B2430"/>
                </a:solidFill>
                <a:latin typeface="Calibri"/>
              </a:rPr>
              <a:t>: </a:t>
            </a:r>
            <a:r>
              <a:rPr sz="1400" b="1" i="0" dirty="0" err="1">
                <a:solidFill>
                  <a:srgbClr val="1B2430"/>
                </a:solidFill>
                <a:latin typeface="Calibri"/>
              </a:rPr>
              <a:t>que</a:t>
            </a:r>
            <a:r>
              <a:rPr sz="1400" b="1" i="0" dirty="0">
                <a:solidFill>
                  <a:srgbClr val="1B2430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B2430"/>
                </a:solidFill>
                <a:latin typeface="Calibri"/>
              </a:rPr>
              <a:t>una</a:t>
            </a:r>
            <a:r>
              <a:rPr sz="1400" b="1" i="0" dirty="0">
                <a:solidFill>
                  <a:srgbClr val="1B2430"/>
                </a:solidFill>
                <a:latin typeface="Calibri"/>
              </a:rPr>
              <a:t> red neuronal </a:t>
            </a:r>
            <a:r>
              <a:rPr sz="1400" b="1" i="0" dirty="0" err="1">
                <a:solidFill>
                  <a:srgbClr val="1B2430"/>
                </a:solidFill>
                <a:latin typeface="Calibri"/>
              </a:rPr>
              <a:t>aprenda</a:t>
            </a:r>
            <a:r>
              <a:rPr sz="1400" b="1" i="0" dirty="0">
                <a:solidFill>
                  <a:srgbClr val="1B2430"/>
                </a:solidFill>
                <a:latin typeface="Calibri"/>
              </a:rPr>
              <a:t> a </a:t>
            </a:r>
            <a:r>
              <a:rPr sz="1400" b="1" i="0" dirty="0" err="1">
                <a:solidFill>
                  <a:srgbClr val="1B2430"/>
                </a:solidFill>
                <a:latin typeface="Calibri"/>
              </a:rPr>
              <a:t>generar</a:t>
            </a:r>
            <a:r>
              <a:rPr sz="1400" b="1" i="0" dirty="0">
                <a:solidFill>
                  <a:srgbClr val="1B2430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B2430"/>
                </a:solidFill>
                <a:latin typeface="Calibri"/>
              </a:rPr>
              <a:t>el</a:t>
            </a:r>
            <a:r>
              <a:rPr sz="1400" b="1" i="0" dirty="0">
                <a:solidFill>
                  <a:srgbClr val="1B2430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B2430"/>
                </a:solidFill>
                <a:latin typeface="Calibri"/>
              </a:rPr>
              <a:t>movimiento</a:t>
            </a:r>
            <a:r>
              <a:rPr sz="1400" b="1" i="0" dirty="0">
                <a:solidFill>
                  <a:srgbClr val="1B2430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B2430"/>
                </a:solidFill>
                <a:latin typeface="Calibri"/>
              </a:rPr>
              <a:t>ella</a:t>
            </a:r>
            <a:r>
              <a:rPr sz="1400" b="1" i="0" dirty="0">
                <a:solidFill>
                  <a:srgbClr val="1B2430"/>
                </a:solidFill>
                <a:latin typeface="Calibri"/>
              </a:rPr>
              <a:t> sola.</a:t>
            </a:r>
          </a:p>
        </p:txBody>
      </p:sp>
      <p:pic>
        <p:nvPicPr>
          <p:cNvPr id="7" name="Picture 6" descr="p_k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38" y="2788920"/>
            <a:ext cx="1104562" cy="1783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697480" y="3063240"/>
            <a:ext cx="1828800" cy="1097280"/>
          </a:xfrm>
          <a:prstGeom prst="roundRect">
            <a:avLst>
              <a:gd name="adj" fmla="val 9000"/>
            </a:avLst>
          </a:prstGeom>
          <a:solidFill>
            <a:srgbClr val="3A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DATOS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cada pose = 17 ángulos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063240"/>
            <a:ext cx="1828800" cy="1097280"/>
          </a:xfrm>
          <a:prstGeom prst="roundRect">
            <a:avLst>
              <a:gd name="adj" fmla="val 9000"/>
            </a:avLst>
          </a:prstGeom>
          <a:solidFill>
            <a:srgbClr val="A87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RED NEURONAL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GRU recurrente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3063240"/>
            <a:ext cx="1828800" cy="1097280"/>
          </a:xfrm>
          <a:prstGeom prst="roundRect">
            <a:avLst>
              <a:gd name="adj" fmla="val 9000"/>
            </a:avLst>
          </a:prstGeom>
          <a:solidFill>
            <a:srgbClr val="5E8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DIBUJO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cinemática directa</a:t>
            </a:r>
          </a:p>
        </p:txBody>
      </p:sp>
      <p:pic>
        <p:nvPicPr>
          <p:cNvPr id="11" name="Picture 10" descr="p_sl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759" y="2788920"/>
            <a:ext cx="1167680" cy="178308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2331720" y="3611880"/>
            <a:ext cx="320040" cy="0"/>
          </a:xfrm>
          <a:prstGeom prst="line">
            <a:avLst/>
          </a:prstGeom>
          <a:ln w="2540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26280" y="3611880"/>
            <a:ext cx="320040" cy="0"/>
          </a:xfrm>
          <a:prstGeom prst="line">
            <a:avLst/>
          </a:prstGeom>
          <a:ln w="2540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20840" y="3611880"/>
            <a:ext cx="320040" cy="0"/>
          </a:xfrm>
          <a:prstGeom prst="line">
            <a:avLst/>
          </a:prstGeom>
          <a:ln w="2540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15400" y="3611880"/>
            <a:ext cx="548640" cy="0"/>
          </a:xfrm>
          <a:prstGeom prst="line">
            <a:avLst/>
          </a:prstGeom>
          <a:ln w="2540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79" y="420624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1">
                <a:solidFill>
                  <a:srgbClr val="8A8F98"/>
                </a:solidFill>
                <a:latin typeface="Calibri"/>
              </a:rPr>
              <a:t>movimientos</a:t>
            </a:r>
          </a:p>
          <a:p>
            <a:pPr algn="ctr"/>
            <a:r>
              <a:rPr sz="950" b="0" i="1">
                <a:solidFill>
                  <a:srgbClr val="8A8F98"/>
                </a:solidFill>
                <a:latin typeface="Calibri"/>
              </a:rPr>
              <a:t>de ejemplo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20624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1">
                <a:solidFill>
                  <a:srgbClr val="8A8F98"/>
                </a:solidFill>
                <a:latin typeface="Calibri"/>
              </a:rPr>
              <a:t>nada de coordenadas:</a:t>
            </a:r>
          </a:p>
          <a:p>
            <a:pPr algn="ctr"/>
            <a:r>
              <a:rPr sz="950" b="0" i="1">
                <a:solidFill>
                  <a:srgbClr val="8A8F98"/>
                </a:solidFill>
                <a:latin typeface="Calibri"/>
              </a:rPr>
              <a:t>ÁNGULOS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20624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1">
                <a:solidFill>
                  <a:srgbClr val="8A8F98"/>
                </a:solidFill>
                <a:latin typeface="Calibri"/>
              </a:rPr>
              <a:t>aprende a predecir</a:t>
            </a:r>
          </a:p>
          <a:p>
            <a:pPr algn="ctr"/>
            <a:r>
              <a:rPr sz="950" b="0" i="1">
                <a:solidFill>
                  <a:srgbClr val="8A8F98"/>
                </a:solidFill>
                <a:latin typeface="Calibri"/>
              </a:rPr>
              <a:t>la pose siguiente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20624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1">
                <a:solidFill>
                  <a:srgbClr val="8A8F98"/>
                </a:solidFill>
                <a:latin typeface="Calibri"/>
              </a:rPr>
              <a:t>de los ángulos</a:t>
            </a:r>
          </a:p>
          <a:p>
            <a:pPr algn="ctr"/>
            <a:r>
              <a:rPr sz="950" b="0" i="1">
                <a:solidFill>
                  <a:srgbClr val="8A8F98"/>
                </a:solidFill>
                <a:latin typeface="Calibri"/>
              </a:rPr>
              <a:t>a la imagen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20624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5E8B72"/>
                </a:solidFill>
                <a:latin typeface="Calibri"/>
              </a:rPr>
              <a:t>¡animación</a:t>
            </a:r>
          </a:p>
          <a:p>
            <a:pPr algn="ctr"/>
            <a:r>
              <a:rPr sz="950" b="1" i="0">
                <a:solidFill>
                  <a:srgbClr val="5E8B72"/>
                </a:solidFill>
                <a:latin typeface="Calibri"/>
              </a:rPr>
              <a:t>generada!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920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8763E"/>
                </a:solidFill>
                <a:latin typeface="Calibri"/>
              </a:rPr>
              <a:t>EL RECORRIDO DE HOY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30368"/>
            <a:ext cx="210312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A85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5358384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A8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5230368"/>
            <a:ext cx="15727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B2430"/>
                </a:solidFill>
                <a:latin typeface="Calibri"/>
              </a:rPr>
              <a:t>El problema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61488" y="5230368"/>
            <a:ext cx="210312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3A4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889504" y="5358384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3A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230368"/>
            <a:ext cx="15727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B2430"/>
                </a:solidFill>
                <a:latin typeface="Calibri"/>
              </a:rPr>
              <a:t>Los datos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74336" y="5230368"/>
            <a:ext cx="210312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A87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102351" y="5358384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A87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4688" y="5230368"/>
            <a:ext cx="15727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B2430"/>
                </a:solidFill>
                <a:latin typeface="Calibri"/>
              </a:rPr>
              <a:t>Del dato al dibujo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87183" y="5230368"/>
            <a:ext cx="210312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5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315199" y="5358384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5E8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7536" y="5230368"/>
            <a:ext cx="15727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B2430"/>
                </a:solidFill>
                <a:latin typeface="Calibri"/>
              </a:rPr>
              <a:t>El modelo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00032" y="5230368"/>
            <a:ext cx="210312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1B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28048" y="5358384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5230368"/>
            <a:ext cx="15727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B2430"/>
                </a:solidFill>
                <a:latin typeface="Calibri"/>
              </a:rPr>
              <a:t>Los resultados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I · 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La idea que falló: predecir las coordenadas (x, 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basta un error pequeño en cada punto para que los huesos cambien de longitud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5E8B72"/>
                </a:solidFill>
                <a:latin typeface="Calibri"/>
              </a:rPr>
              <a:t>Prediciendo ÁNGULOS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85448"/>
                </a:solidFill>
                <a:latin typeface="Calibri"/>
              </a:rPr>
              <a:t>Prediciendo COORDENADAS (x, y)</a:t>
            </a:r>
          </a:p>
        </p:txBody>
      </p:sp>
      <p:pic>
        <p:nvPicPr>
          <p:cNvPr id="8" name="Picture 7" descr="prob_ang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44" y="2148840"/>
            <a:ext cx="3174991" cy="3383280"/>
          </a:xfrm>
          <a:prstGeom prst="rect">
            <a:avLst/>
          </a:prstGeom>
        </p:spPr>
      </p:pic>
      <p:pic>
        <p:nvPicPr>
          <p:cNvPr id="9" name="Picture 8" descr="prob_co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049" y="2148840"/>
            <a:ext cx="3223260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623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5E8B72"/>
                </a:solidFill>
                <a:latin typeface="Calibri"/>
              </a:rPr>
              <a:t>antebrazo 65 px      pantorrilla 90 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5623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85448"/>
                </a:solidFill>
                <a:latin typeface="Calibri"/>
              </a:rPr>
              <a:t>antebrazo 86 px      pantorrilla 87 px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06727" y="6163056"/>
            <a:ext cx="8778240" cy="457200"/>
          </a:xfrm>
          <a:prstGeom prst="roundRect">
            <a:avLst>
              <a:gd name="adj" fmla="val 50000"/>
            </a:avLst>
          </a:prstGeom>
          <a:solidFill>
            <a:srgbClr val="5E8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Solución: predecir los ÁNGULOS. Con cinemática directa las longitudes quedan fijas por construcción.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II ·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Una POSE son 17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posición de la cadera, velocidades y diez ángulos que describen el cuerpo entero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038801"/>
              </p:ext>
            </p:extLst>
          </p:nvPr>
        </p:nvGraphicFramePr>
        <p:xfrm>
          <a:off x="105492" y="1737368"/>
          <a:ext cx="3200400" cy="42062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root_x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400.0 px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root_y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248.0 px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root_rotation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0.0°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velocity_x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velocity_y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5E8B72"/>
                          </a:solidFill>
                          <a:latin typeface="Calibri"/>
                        </a:rPr>
                        <a:t>torso_angle</a:t>
                      </a:r>
                    </a:p>
                  </a:txBody>
                  <a:tcPr marL="76200" marR="762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dirty="0">
                          <a:solidFill>
                            <a:srgbClr val="5E8B72"/>
                          </a:solidFill>
                          <a:latin typeface="Calibri"/>
                        </a:rPr>
                        <a:t>9.9°</a:t>
                      </a:r>
                    </a:p>
                  </a:txBody>
                  <a:tcPr marL="76200" marR="76200" marT="12700" marB="12700" anchor="ctr">
                    <a:solidFill>
                      <a:srgbClr val="F0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neck_angle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0.0°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left_shoulder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-49.9°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left_elbow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50.0°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right_shoulder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49.9°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right_elbow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50.0°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A4B5C"/>
                          </a:solidFill>
                          <a:latin typeface="Calibri"/>
                        </a:rPr>
                        <a:t>left_hip</a:t>
                      </a:r>
                    </a:p>
                  </a:txBody>
                  <a:tcPr marL="76200" marR="762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3A4B5C"/>
                          </a:solidFill>
                          <a:latin typeface="Calibri"/>
                        </a:rPr>
                        <a:t>-11.9°</a:t>
                      </a:r>
                    </a:p>
                  </a:txBody>
                  <a:tcPr marL="76200" marR="76200" marT="12700" marB="12700" anchor="ctr">
                    <a:solidFill>
                      <a:srgbClr val="F0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left_knee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32.9°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A85448"/>
                          </a:solidFill>
                          <a:latin typeface="Calibri"/>
                        </a:rPr>
                        <a:t>right_hip</a:t>
                      </a:r>
                    </a:p>
                  </a:txBody>
                  <a:tcPr marL="76200" marR="762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A85448"/>
                          </a:solidFill>
                          <a:latin typeface="Calibri"/>
                        </a:rPr>
                        <a:t>103.9°</a:t>
                      </a:r>
                    </a:p>
                  </a:txBody>
                  <a:tcPr marL="76200" marR="76200" marT="12700" marB="12700" anchor="ctr">
                    <a:solidFill>
                      <a:srgbClr val="F0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A8763E"/>
                          </a:solidFill>
                          <a:latin typeface="Calibri"/>
                        </a:rPr>
                        <a:t>right_knee</a:t>
                      </a:r>
                    </a:p>
                  </a:txBody>
                  <a:tcPr marL="76200" marR="762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A8763E"/>
                          </a:solidFill>
                          <a:latin typeface="Calibri"/>
                        </a:rPr>
                        <a:t>8.3°</a:t>
                      </a:r>
                    </a:p>
                  </a:txBody>
                  <a:tcPr marL="76200" marR="76200" marT="12700" marB="12700" anchor="ctr">
                    <a:solidFill>
                      <a:srgbClr val="F0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sword_angle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20.0°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A4B5C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dirty="0">
                          <a:solidFill>
                            <a:srgbClr val="3A4B5C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7" name="Picture 6" descr="pose_k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91640"/>
            <a:ext cx="4197338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566160" y="1874519"/>
            <a:ext cx="2514600" cy="457200"/>
          </a:xfrm>
          <a:prstGeom prst="roundRect">
            <a:avLst>
              <a:gd name="adj" fmla="val 25000"/>
            </a:avLst>
          </a:prstGeom>
          <a:solidFill>
            <a:srgbClr val="5E8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torso_angle = 9.9°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103120"/>
            <a:ext cx="117373" cy="1524225"/>
          </a:xfrm>
          <a:prstGeom prst="line">
            <a:avLst/>
          </a:prstGeom>
          <a:ln w="22860">
            <a:solidFill>
              <a:srgbClr val="5E8B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98280" y="1874519"/>
            <a:ext cx="2514600" cy="457200"/>
          </a:xfrm>
          <a:prstGeom prst="roundRect">
            <a:avLst>
              <a:gd name="adj" fmla="val 25000"/>
            </a:avLst>
          </a:prstGeom>
          <a:solidFill>
            <a:srgbClr val="A8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right_hip = 103.9°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6616010" y="2103120"/>
            <a:ext cx="2482270" cy="1887137"/>
          </a:xfrm>
          <a:prstGeom prst="line">
            <a:avLst/>
          </a:prstGeom>
          <a:ln w="22860">
            <a:solidFill>
              <a:srgbClr val="A854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72600" y="3977639"/>
            <a:ext cx="2514600" cy="457200"/>
          </a:xfrm>
          <a:prstGeom prst="roundRect">
            <a:avLst>
              <a:gd name="adj" fmla="val 25000"/>
            </a:avLst>
          </a:prstGeom>
          <a:solidFill>
            <a:srgbClr val="A87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right_knee = 8.3°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7626076" y="3982264"/>
            <a:ext cx="1746524" cy="223976"/>
          </a:xfrm>
          <a:prstGeom prst="line">
            <a:avLst/>
          </a:prstGeom>
          <a:ln w="22860">
            <a:solidFill>
              <a:srgbClr val="A876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83280" y="4709160"/>
            <a:ext cx="2514600" cy="457200"/>
          </a:xfrm>
          <a:prstGeom prst="roundRect">
            <a:avLst>
              <a:gd name="adj" fmla="val 25000"/>
            </a:avLst>
          </a:prstGeom>
          <a:solidFill>
            <a:srgbClr val="3A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left_knee = 32.9°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897880" y="4724170"/>
            <a:ext cx="322192" cy="213590"/>
          </a:xfrm>
          <a:prstGeom prst="line">
            <a:avLst/>
          </a:prstGeom>
          <a:ln w="22860">
            <a:solidFill>
              <a:srgbClr val="3A4B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50872" y="6163056"/>
            <a:ext cx="8289950" cy="45720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cada ÁNGULO se mide respecto al hueso anterior  ·  la cadera (root) da la posición: (400, 248)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II ·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¿Respecto a qué gira cada ángulo?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cada ángulo se mide desde la prolongación del hueso PADRE, no desde el suelo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05_ang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98530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64592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8763E"/>
                </a:solidFill>
                <a:latin typeface="Calibri"/>
              </a:rPr>
              <a:t>CÓMO LEER LA FIGURA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039112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96596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A8F98"/>
                </a:solidFill>
                <a:latin typeface="Calibri"/>
              </a:rPr>
              <a:t>eje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3611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A4B5C"/>
                </a:solidFill>
                <a:latin typeface="Calibri"/>
              </a:rPr>
              <a:t>referencia fija (horizontal / vertical), igual para todo el cuerpo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953512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4A6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88036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4A6274"/>
                </a:solidFill>
                <a:latin typeface="Calibri"/>
              </a:rPr>
              <a:t>eje RELATIVO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00400"/>
            <a:ext cx="3611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A4B5C"/>
                </a:solidFill>
                <a:latin typeface="Calibri"/>
              </a:rPr>
              <a:t>la prolongación del hueso padre: el '0°' de esa articulación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867912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A87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379476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8763E"/>
                </a:solidFill>
                <a:latin typeface="Calibri"/>
              </a:rPr>
              <a:t>arco = el ÁNGULO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114800"/>
            <a:ext cx="3611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A4B5C"/>
                </a:solidFill>
                <a:latin typeface="Calibri"/>
              </a:rPr>
              <a:t>cuánto se ha girado respecto a ese eje relativo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846320"/>
            <a:ext cx="3840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Los números (espalda 25°, codo 90°, rodilla 80°) son justo los valores del estado.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35708" y="6163056"/>
            <a:ext cx="7720279" cy="457200"/>
          </a:xfrm>
          <a:prstGeom prst="roundRect">
            <a:avLst>
              <a:gd name="adj" fmla="val 50000"/>
            </a:avLst>
          </a:prstGeom>
          <a:solidFill>
            <a:srgbClr val="A87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Por eso son ángulos RELATIVOS: al girar un hueso, todo lo que cuelga de él le acompaña.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II ·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Una SECUENCIA son 40 poses seguidas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los mismos 17 números, cambiando poco a poco en cada fotograma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691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3A4B5C"/>
                </a:solidFill>
                <a:latin typeface="Calibri"/>
              </a:rPr>
              <a:t>fotograma 0</a:t>
            </a:r>
          </a:p>
        </p:txBody>
      </p:sp>
      <p:pic>
        <p:nvPicPr>
          <p:cNvPr id="7" name="Picture 6" descr="se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02" y="2148840"/>
            <a:ext cx="1529394" cy="2468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4800600"/>
            <a:ext cx="173736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right_hip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-10.0°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right_knee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70.0°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0864" y="1691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3A4B5C"/>
                </a:solidFill>
                <a:latin typeface="Calibri"/>
              </a:rPr>
              <a:t>fotograma 8</a:t>
            </a:r>
          </a:p>
        </p:txBody>
      </p:sp>
      <p:pic>
        <p:nvPicPr>
          <p:cNvPr id="10" name="Picture 9" descr="seq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566" y="2148840"/>
            <a:ext cx="1529394" cy="2468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386584" y="4800600"/>
            <a:ext cx="173736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right_hip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-9.0°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right_knee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69.4°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691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3A4B5C"/>
                </a:solidFill>
                <a:latin typeface="Calibri"/>
              </a:rPr>
              <a:t>fotograma 16</a:t>
            </a:r>
          </a:p>
        </p:txBody>
      </p:sp>
      <p:pic>
        <p:nvPicPr>
          <p:cNvPr id="13" name="Picture 12" descr="seq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230" y="2148840"/>
            <a:ext cx="1529394" cy="24688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270248" y="4800600"/>
            <a:ext cx="173736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right_hip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34.6°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right_knee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45.9°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1691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A85448"/>
                </a:solidFill>
                <a:latin typeface="Calibri"/>
              </a:rPr>
              <a:t>fotograma 22  ¡impacto!</a:t>
            </a:r>
          </a:p>
        </p:txBody>
      </p:sp>
      <p:pic>
        <p:nvPicPr>
          <p:cNvPr id="16" name="Picture 15" descr="seq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894" y="2148840"/>
            <a:ext cx="1529394" cy="24688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153912" y="4800600"/>
            <a:ext cx="173736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7940">
            <a:solidFill>
              <a:srgbClr val="A85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A85448"/>
                </a:solidFill>
                <a:latin typeface="Calibri"/>
              </a:rPr>
              <a:t>right_hip</a:t>
            </a:r>
          </a:p>
          <a:p>
            <a:pPr algn="ctr"/>
            <a:r>
              <a:rPr sz="950" b="1">
                <a:solidFill>
                  <a:srgbClr val="A85448"/>
                </a:solidFill>
                <a:latin typeface="Calibri"/>
              </a:rPr>
              <a:t>103.9°</a:t>
            </a:r>
          </a:p>
          <a:p>
            <a:pPr algn="ctr"/>
            <a:r>
              <a:rPr sz="950" b="1">
                <a:solidFill>
                  <a:srgbClr val="A85448"/>
                </a:solidFill>
                <a:latin typeface="Calibri"/>
              </a:rPr>
              <a:t>right_knee</a:t>
            </a:r>
          </a:p>
          <a:p>
            <a:pPr algn="ctr"/>
            <a:r>
              <a:rPr sz="950" b="1">
                <a:solidFill>
                  <a:srgbClr val="A85448"/>
                </a:solidFill>
                <a:latin typeface="Calibri"/>
              </a:rPr>
              <a:t>8.3°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1691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3A4B5C"/>
                </a:solidFill>
                <a:latin typeface="Calibri"/>
              </a:rPr>
              <a:t>fotograma 30</a:t>
            </a:r>
          </a:p>
        </p:txBody>
      </p:sp>
      <p:pic>
        <p:nvPicPr>
          <p:cNvPr id="19" name="Picture 18" descr="seq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558" y="2148840"/>
            <a:ext cx="1529394" cy="24688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037576" y="4800600"/>
            <a:ext cx="173736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right_hip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22.3°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right_knee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52.5°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691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3A4B5C"/>
                </a:solidFill>
                <a:latin typeface="Calibri"/>
              </a:rPr>
              <a:t>fotograma 39</a:t>
            </a:r>
          </a:p>
        </p:txBody>
      </p:sp>
      <p:pic>
        <p:nvPicPr>
          <p:cNvPr id="22" name="Picture 21" descr="seq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5222" y="2148840"/>
            <a:ext cx="1529394" cy="246888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921240" y="4800600"/>
            <a:ext cx="173736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right_hip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-9.7°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right_knee</a:t>
            </a:r>
          </a:p>
          <a:p>
            <a:pPr algn="ctr"/>
            <a:r>
              <a:rPr sz="950" b="1">
                <a:solidFill>
                  <a:srgbClr val="3A4B5C"/>
                </a:solidFill>
                <a:latin typeface="Calibri"/>
              </a:rPr>
              <a:t>69.9°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83306" y="6163056"/>
            <a:ext cx="6825081" cy="45720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Al reproducirlas a 30 fotogramas por segundo, el ojo las une y ve UNA PATADA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II ·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El DATASET son 600 secuencias como ésa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10 movimientos distintos y, de cada uno, 60 variantes aleatorias: ninguna igual a otra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16916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3A4B5C"/>
                </a:solidFill>
                <a:latin typeface="Calibri"/>
              </a:rPr>
              <a:t>idle</a:t>
            </a:r>
          </a:p>
        </p:txBody>
      </p:sp>
      <p:pic>
        <p:nvPicPr>
          <p:cNvPr id="7" name="Picture 6" descr="ds_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754" y="2057400"/>
            <a:ext cx="1705428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25296" y="16916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3A4B5C"/>
                </a:solidFill>
                <a:latin typeface="Calibri"/>
              </a:rPr>
              <a:t>walk</a:t>
            </a:r>
          </a:p>
        </p:txBody>
      </p:sp>
      <p:pic>
        <p:nvPicPr>
          <p:cNvPr id="9" name="Picture 8" descr="ds_w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21" y="2057400"/>
            <a:ext cx="1705428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04872" y="16916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3A4B5C"/>
                </a:solidFill>
                <a:latin typeface="Calibri"/>
              </a:rPr>
              <a:t>run</a:t>
            </a:r>
          </a:p>
        </p:txBody>
      </p:sp>
      <p:pic>
        <p:nvPicPr>
          <p:cNvPr id="11" name="Picture 10" descr="ds_r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9397" y="2057400"/>
            <a:ext cx="1705428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84447" y="16916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3A4B5C"/>
                </a:solidFill>
                <a:latin typeface="Calibri"/>
              </a:rPr>
              <a:t>jump</a:t>
            </a:r>
          </a:p>
        </p:txBody>
      </p:sp>
      <p:pic>
        <p:nvPicPr>
          <p:cNvPr id="13" name="Picture 12" descr="ds_ju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973" y="2057400"/>
            <a:ext cx="1705428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4024" y="16916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3A4B5C"/>
                </a:solidFill>
                <a:latin typeface="Calibri"/>
              </a:rPr>
              <a:t>dash</a:t>
            </a:r>
          </a:p>
        </p:txBody>
      </p:sp>
      <p:pic>
        <p:nvPicPr>
          <p:cNvPr id="15" name="Picture 14" descr="ds_d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8549" y="2057400"/>
            <a:ext cx="1705428" cy="2148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3600" y="16916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3A4B5C"/>
                </a:solidFill>
                <a:latin typeface="Calibri"/>
              </a:rPr>
              <a:t>roll</a:t>
            </a:r>
          </a:p>
        </p:txBody>
      </p:sp>
      <p:pic>
        <p:nvPicPr>
          <p:cNvPr id="17" name="Picture 16" descr="ds_ro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8125" y="2057400"/>
            <a:ext cx="1705428" cy="2148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23176" y="16916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3A4B5C"/>
                </a:solidFill>
                <a:latin typeface="Calibri"/>
              </a:rPr>
              <a:t>punch</a:t>
            </a:r>
          </a:p>
        </p:txBody>
      </p:sp>
      <p:pic>
        <p:nvPicPr>
          <p:cNvPr id="19" name="Picture 18" descr="ds_pun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7701" y="2057400"/>
            <a:ext cx="1705428" cy="21488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02752" y="16916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A85448"/>
                </a:solidFill>
                <a:latin typeface="Calibri"/>
              </a:rPr>
              <a:t>kick</a:t>
            </a:r>
          </a:p>
        </p:txBody>
      </p:sp>
      <p:pic>
        <p:nvPicPr>
          <p:cNvPr id="21" name="Picture 20" descr="ds_ki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7277" y="2057400"/>
            <a:ext cx="1705428" cy="2148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82328" y="16916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3A4B5C"/>
                </a:solidFill>
                <a:latin typeface="Calibri"/>
              </a:rPr>
              <a:t>sword_slash</a:t>
            </a:r>
          </a:p>
        </p:txBody>
      </p:sp>
      <p:pic>
        <p:nvPicPr>
          <p:cNvPr id="23" name="Picture 22" descr="ds_sword_slas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6853" y="2057400"/>
            <a:ext cx="1705428" cy="21488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61904" y="16916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3A4B5C"/>
                </a:solidFill>
                <a:latin typeface="Calibri"/>
              </a:rPr>
              <a:t>sword_combo</a:t>
            </a:r>
          </a:p>
        </p:txBody>
      </p:sp>
      <p:pic>
        <p:nvPicPr>
          <p:cNvPr id="25" name="Picture 24" descr="ds_sword_comb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86429" y="2057400"/>
            <a:ext cx="1705428" cy="21488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10 movimientos   ×   60 variantes cada uno   =   600 secuencias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4983480"/>
            <a:ext cx="1920240" cy="960120"/>
          </a:xfrm>
          <a:prstGeom prst="roundRect">
            <a:avLst>
              <a:gd name="adj" fmla="val 9000"/>
            </a:avLst>
          </a:prstGeom>
          <a:solidFill>
            <a:srgbClr val="3A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600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secuencias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(ejecuciones)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83480"/>
            <a:ext cx="4572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983480"/>
            <a:ext cx="1920240" cy="960120"/>
          </a:xfrm>
          <a:prstGeom prst="roundRect">
            <a:avLst>
              <a:gd name="adj" fmla="val 9000"/>
            </a:avLst>
          </a:prstGeom>
          <a:solidFill>
            <a:srgbClr val="A87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40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fotogramas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(instantes)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983480"/>
            <a:ext cx="4572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4983480"/>
            <a:ext cx="1920240" cy="960120"/>
          </a:xfrm>
          <a:prstGeom prst="roundRect">
            <a:avLst>
              <a:gd name="adj" fmla="val 9000"/>
            </a:avLst>
          </a:prstGeom>
          <a:solidFill>
            <a:srgbClr val="5E8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17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números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(la pose)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30905" y="6163056"/>
            <a:ext cx="5929884" cy="45720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dirty="0" err="1">
                <a:solidFill>
                  <a:srgbClr val="FFFFFF"/>
                </a:solidFill>
                <a:latin typeface="Calibri"/>
              </a:rPr>
              <a:t>cada</a:t>
            </a:r>
            <a:r>
              <a:rPr sz="125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Calibri"/>
              </a:rPr>
              <a:t>casilla</a:t>
            </a:r>
            <a:r>
              <a:rPr sz="1250" b="1" dirty="0">
                <a:solidFill>
                  <a:srgbClr val="FFFFFF"/>
                </a:solidFill>
                <a:latin typeface="Calibri"/>
              </a:rPr>
              <a:t> es UN </a:t>
            </a:r>
            <a:r>
              <a:rPr sz="1250" b="1" dirty="0" err="1">
                <a:solidFill>
                  <a:srgbClr val="FFFFFF"/>
                </a:solidFill>
                <a:latin typeface="Calibri"/>
              </a:rPr>
              <a:t>número</a:t>
            </a:r>
            <a:r>
              <a:rPr sz="1250" b="1" dirty="0">
                <a:solidFill>
                  <a:srgbClr val="FFFFFF"/>
                </a:solidFill>
                <a:latin typeface="Calibri"/>
              </a:rPr>
              <a:t>:   data[</a:t>
            </a:r>
            <a:r>
              <a:rPr sz="1250" b="1" dirty="0" err="1">
                <a:solidFill>
                  <a:srgbClr val="FFFFFF"/>
                </a:solidFill>
                <a:latin typeface="Calibri"/>
              </a:rPr>
              <a:t>secuencia</a:t>
            </a:r>
            <a:r>
              <a:rPr sz="1250" b="1" dirty="0">
                <a:solidFill>
                  <a:srgbClr val="FFFFFF"/>
                </a:solidFill>
                <a:latin typeface="Calibri"/>
              </a:rPr>
              <a:t>, </a:t>
            </a:r>
            <a:r>
              <a:rPr sz="1250" b="1" dirty="0" err="1">
                <a:solidFill>
                  <a:srgbClr val="FFFFFF"/>
                </a:solidFill>
                <a:latin typeface="Calibri"/>
              </a:rPr>
              <a:t>fotograma</a:t>
            </a:r>
            <a:r>
              <a:rPr sz="1250" b="1" dirty="0">
                <a:solidFill>
                  <a:srgbClr val="FFFFFF"/>
                </a:solidFill>
                <a:latin typeface="Calibri"/>
              </a:rPr>
              <a:t>, variable]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III · DEL DATO AL DIBUJO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Paso 1: de los ángulos a los PUNTOS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cada hueso hereda la orientación del padre; su ángulo GLOBAL es el que entra en la fórmula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k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4100305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0" y="1737360"/>
            <a:ext cx="598932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0320">
            <a:solidFill>
              <a:srgbClr val="1B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B2430"/>
                </a:solidFill>
                <a:latin typeface="Calibri"/>
              </a:rPr>
              <a:t>La regla (trigonometría)</a:t>
            </a:r>
          </a:p>
          <a:p>
            <a:pPr algn="ctr"/>
            <a:r>
              <a:rPr sz="1200" b="1">
                <a:solidFill>
                  <a:srgbClr val="1B2430"/>
                </a:solidFill>
                <a:latin typeface="Calibri"/>
              </a:rPr>
              <a:t>punto hijo  =  punto padre  +  longitud × (cos ángulo, sen ángulo)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788920"/>
            <a:ext cx="59893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0320">
            <a:solidFill>
              <a:srgbClr val="1B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852160" y="30906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86207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B2430"/>
                </a:solidFill>
                <a:latin typeface="Calibri"/>
              </a:rPr>
              <a:t>Empezamos en la cadera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24612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A4B5C"/>
                </a:solidFill>
                <a:latin typeface="Calibri"/>
              </a:rPr>
              <a:t>cadera = (400, 248)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886200"/>
            <a:ext cx="59893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0320">
            <a:solidFill>
              <a:srgbClr val="A85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852160" y="41879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8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95935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A85448"/>
                </a:solidFill>
                <a:latin typeface="Calibri"/>
              </a:rPr>
              <a:t>El muslo mide 95 px y apunta a 5.9°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34340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A4B5C"/>
                </a:solidFill>
                <a:latin typeface="Calibri"/>
              </a:rPr>
              <a:t>rodilla = (400,248) + 95×(cos 5.9°, sen 5.9°) = (494, 258)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983480"/>
            <a:ext cx="59893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0320">
            <a:solidFill>
              <a:srgbClr val="A87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52160" y="52852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87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05663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A8763E"/>
                </a:solidFill>
                <a:latin typeface="Calibri"/>
              </a:rPr>
              <a:t>La pantorrilla mide 90 px y apunta a −2.4°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44068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A4B5C"/>
                </a:solidFill>
                <a:latin typeface="Calibri"/>
              </a:rPr>
              <a:t>tobillo = (494,258) + 90×(cos −2.4°, sen −2.4°) = (584, 254)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46070" y="6163056"/>
            <a:ext cx="6499555" cy="45720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…y así con los 17 nodos. Las longitudes NUNCA cambian: sólo los ángulos.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III · DEL DATO AL DIBUJO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Paso 2: de los puntos al NINJA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cada pieza PNG se gira el ángulo de su hueso y se pega por su PIVOTE en la articulación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3A4B5C"/>
                </a:solidFill>
                <a:latin typeface="Calibri"/>
              </a:rPr>
              <a:t>1. los PUNTOS</a:t>
            </a:r>
          </a:p>
          <a:p>
            <a:pPr algn="ctr"/>
            <a:r>
              <a:rPr sz="1200" b="1" i="0">
                <a:solidFill>
                  <a:srgbClr val="3A4B5C"/>
                </a:solidFill>
                <a:latin typeface="Calibri"/>
              </a:rPr>
              <a:t>(lo que da el paso anterior)</a:t>
            </a:r>
          </a:p>
        </p:txBody>
      </p:sp>
      <p:pic>
        <p:nvPicPr>
          <p:cNvPr id="7" name="Picture 6" descr="render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408" y="2606040"/>
            <a:ext cx="1562303" cy="246888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3611880" y="3749039"/>
            <a:ext cx="365759" cy="0"/>
          </a:xfrm>
          <a:prstGeom prst="line">
            <a:avLst/>
          </a:prstGeom>
          <a:ln w="2794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06240" y="16916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3A4B5C"/>
                </a:solidFill>
                <a:latin typeface="Calibri"/>
              </a:rPr>
              <a:t>2. los HUESOS</a:t>
            </a:r>
          </a:p>
          <a:p>
            <a:pPr algn="ctr"/>
            <a:r>
              <a:rPr sz="1200" b="1" i="0">
                <a:solidFill>
                  <a:srgbClr val="3A4B5C"/>
                </a:solidFill>
                <a:latin typeface="Calibri"/>
              </a:rPr>
              <a:t>(unir punto con punto)</a:t>
            </a:r>
          </a:p>
        </p:txBody>
      </p:sp>
      <p:pic>
        <p:nvPicPr>
          <p:cNvPr id="10" name="Picture 9" descr="render_b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568" y="2606040"/>
            <a:ext cx="1562303" cy="2468880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7178040" y="3749039"/>
            <a:ext cx="365760" cy="0"/>
          </a:xfrm>
          <a:prstGeom prst="line">
            <a:avLst/>
          </a:prstGeom>
          <a:ln w="2794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0" y="16916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A8763E"/>
                </a:solidFill>
                <a:latin typeface="Calibri"/>
              </a:rPr>
              <a:t>3. el NINJA</a:t>
            </a:r>
          </a:p>
          <a:p>
            <a:pPr algn="ctr"/>
            <a:r>
              <a:rPr sz="1200" b="1" i="0">
                <a:solidFill>
                  <a:srgbClr val="A8763E"/>
                </a:solidFill>
                <a:latin typeface="Calibri"/>
              </a:rPr>
              <a:t>(pegar las piezas PNG)</a:t>
            </a:r>
          </a:p>
        </p:txBody>
      </p:sp>
      <p:pic>
        <p:nvPicPr>
          <p:cNvPr id="13" name="Picture 12" descr="pose_k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328" y="2514600"/>
            <a:ext cx="2629102" cy="2606040"/>
          </a:xfrm>
          <a:prstGeom prst="rect">
            <a:avLst/>
          </a:prstGeom>
        </p:spPr>
      </p:pic>
      <p:pic>
        <p:nvPicPr>
          <p:cNvPr id="14" name="Picture 13" descr="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199" y="5257800"/>
            <a:ext cx="16648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" y="574243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head</a:t>
            </a:r>
          </a:p>
        </p:txBody>
      </p:sp>
      <p:pic>
        <p:nvPicPr>
          <p:cNvPr id="16" name="Picture 15" descr="tors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5306518"/>
            <a:ext cx="1097280" cy="35976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74519" y="574243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torso</a:t>
            </a:r>
          </a:p>
        </p:txBody>
      </p:sp>
      <p:pic>
        <p:nvPicPr>
          <p:cNvPr id="18" name="Picture 17" descr="upper_ar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5312440"/>
            <a:ext cx="1097280" cy="34791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54679" y="574243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upper_arm</a:t>
            </a:r>
          </a:p>
        </p:txBody>
      </p:sp>
      <p:pic>
        <p:nvPicPr>
          <p:cNvPr id="20" name="Picture 19" descr="forear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79" y="5322520"/>
            <a:ext cx="1097280" cy="32775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34840" y="574243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forearm</a:t>
            </a:r>
          </a:p>
        </p:txBody>
      </p:sp>
      <p:pic>
        <p:nvPicPr>
          <p:cNvPr id="22" name="Picture 21" descr="han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525780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0" y="574243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hand</a:t>
            </a:r>
          </a:p>
        </p:txBody>
      </p:sp>
      <p:pic>
        <p:nvPicPr>
          <p:cNvPr id="24" name="Picture 23" descr="thig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5342830"/>
            <a:ext cx="1097280" cy="28713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95160" y="574243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thigh</a:t>
            </a:r>
          </a:p>
        </p:txBody>
      </p:sp>
      <p:pic>
        <p:nvPicPr>
          <p:cNvPr id="26" name="Picture 25" descr="cal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6760" y="5357308"/>
            <a:ext cx="1097280" cy="25818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75320" y="574243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calf</a:t>
            </a:r>
          </a:p>
        </p:txBody>
      </p:sp>
      <p:pic>
        <p:nvPicPr>
          <p:cNvPr id="28" name="Picture 27" descr="foo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2148" y="5257800"/>
            <a:ext cx="806823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55480" y="574243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foot</a:t>
            </a:r>
          </a:p>
        </p:txBody>
      </p:sp>
      <p:pic>
        <p:nvPicPr>
          <p:cNvPr id="30" name="Picture 29" descr="swor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27080" y="5370021"/>
            <a:ext cx="1097280" cy="2327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835640" y="574243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sword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5017" y="6163056"/>
            <a:ext cx="7801660" cy="45720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Como el pivote de cada pieza cae sobre la articulación, nunca quedan huecos entre partes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IV · 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Cómo se le enseña: de 600 secuencias a 12.240 ejemplos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cada secuencia se trocea en ventanas; la red NUNCA ve una secuencia entera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94560" y="157276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3A4B5C"/>
                </a:solidFill>
                <a:latin typeface="Calibri"/>
              </a:rPr>
              <a:t>ENTRADA (las últimas poses)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15727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A8763E"/>
                </a:solidFill>
                <a:latin typeface="Calibri"/>
              </a:rPr>
              <a:t>OBJETIVO</a:t>
            </a:r>
          </a:p>
        </p:txBody>
      </p:sp>
      <p:pic>
        <p:nvPicPr>
          <p:cNvPr id="8" name="Picture 7" descr="wi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9" y="1810512"/>
            <a:ext cx="451781" cy="8412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19" y="1764792"/>
            <a:ext cx="1097280" cy="932688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3A4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i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269" y="1810512"/>
            <a:ext cx="451781" cy="8412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874519" y="1764792"/>
            <a:ext cx="1097280" cy="932688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3A4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in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869" y="1810512"/>
            <a:ext cx="451781" cy="8412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46119" y="1764792"/>
            <a:ext cx="1097280" cy="932688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3A4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win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0469" y="1810512"/>
            <a:ext cx="451781" cy="8412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617720" y="1764792"/>
            <a:ext cx="1097280" cy="932688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3A4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win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2069" y="1810512"/>
            <a:ext cx="451781" cy="84124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989320" y="1764792"/>
            <a:ext cx="1097280" cy="932688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3A4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win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3669" y="1810512"/>
            <a:ext cx="451781" cy="84124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360920" y="1764792"/>
            <a:ext cx="1097280" cy="932688"/>
          </a:xfrm>
          <a:prstGeom prst="roundRect">
            <a:avLst>
              <a:gd name="adj" fmla="val 9000"/>
            </a:avLst>
          </a:prstGeom>
          <a:noFill/>
          <a:ln w="27940">
            <a:solidFill>
              <a:srgbClr val="A87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win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5269" y="1810512"/>
            <a:ext cx="451781" cy="841248"/>
          </a:xfrm>
          <a:prstGeom prst="rect">
            <a:avLst/>
          </a:prstGeom>
        </p:spPr>
      </p:pic>
      <p:pic>
        <p:nvPicPr>
          <p:cNvPr id="21" name="Picture 20" descr="win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6869" y="1810512"/>
            <a:ext cx="451781" cy="8412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47120" y="2066543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8F98"/>
                </a:solidFill>
                <a:latin typeface="Calibri"/>
              </a:rPr>
              <a:t>ejemplo 1</a:t>
            </a:r>
          </a:p>
        </p:txBody>
      </p:sp>
      <p:pic>
        <p:nvPicPr>
          <p:cNvPr id="23" name="Picture 22" descr="wi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9" y="2761488"/>
            <a:ext cx="451781" cy="841248"/>
          </a:xfrm>
          <a:prstGeom prst="rect">
            <a:avLst/>
          </a:prstGeom>
        </p:spPr>
      </p:pic>
      <p:pic>
        <p:nvPicPr>
          <p:cNvPr id="24" name="Picture 23" descr="wi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269" y="2761488"/>
            <a:ext cx="451781" cy="8412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874519" y="2715768"/>
            <a:ext cx="1097280" cy="932688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3A4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win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869" y="2761488"/>
            <a:ext cx="451781" cy="84124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3246119" y="2715768"/>
            <a:ext cx="1097280" cy="932688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3A4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win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0469" y="2761488"/>
            <a:ext cx="451781" cy="84124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617720" y="2715768"/>
            <a:ext cx="1097280" cy="932688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3A4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win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2069" y="2761488"/>
            <a:ext cx="451781" cy="84124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989320" y="2715768"/>
            <a:ext cx="1097280" cy="932688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3A4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win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3669" y="2761488"/>
            <a:ext cx="451781" cy="84124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360920" y="2715768"/>
            <a:ext cx="1097280" cy="932688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3A4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win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5269" y="2761488"/>
            <a:ext cx="451781" cy="841248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8732520" y="2715768"/>
            <a:ext cx="1097280" cy="932688"/>
          </a:xfrm>
          <a:prstGeom prst="roundRect">
            <a:avLst>
              <a:gd name="adj" fmla="val 9000"/>
            </a:avLst>
          </a:prstGeom>
          <a:noFill/>
          <a:ln w="27940">
            <a:solidFill>
              <a:srgbClr val="A87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win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6869" y="2761488"/>
            <a:ext cx="451781" cy="8412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247120" y="3017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8F98"/>
                </a:solidFill>
                <a:latin typeface="Calibri"/>
              </a:rPr>
              <a:t>ejemplo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694176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1">
                <a:solidFill>
                  <a:srgbClr val="8A8F98"/>
                </a:solidFill>
                <a:latin typeface="Calibri"/>
              </a:rPr>
              <a:t>la ventana se desliza UN fotograma y ya tienes el siguiente ejemplo        (aquí se ven 5 poses por espacio; la ventana real es de 16)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114800"/>
            <a:ext cx="1965960" cy="1097280"/>
          </a:xfrm>
          <a:prstGeom prst="roundRect">
            <a:avLst>
              <a:gd name="adj" fmla="val 9000"/>
            </a:avLst>
          </a:prstGeom>
          <a:solidFill>
            <a:srgbClr val="3A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DATASET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(600, 40, 17)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600 secuencias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52928" y="4114800"/>
            <a:ext cx="1965960" cy="1097280"/>
          </a:xfrm>
          <a:prstGeom prst="roundRect">
            <a:avLst>
              <a:gd name="adj" fmla="val 9000"/>
            </a:avLst>
          </a:prstGeom>
          <a:solidFill>
            <a:srgbClr val="4A6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 PARTE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510 train · 90 val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por secuencias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38928" y="4114800"/>
            <a:ext cx="1965960" cy="1097280"/>
          </a:xfrm>
          <a:prstGeom prst="roundRect">
            <a:avLst>
              <a:gd name="adj" fmla="val 9000"/>
            </a:avLst>
          </a:prstGeom>
          <a:solidFill>
            <a:srgbClr val="A87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 TROCEA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24 ventanas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por cada secuencia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24928" y="4114800"/>
            <a:ext cx="1965960" cy="1097280"/>
          </a:xfrm>
          <a:prstGeom prst="roundRect">
            <a:avLst>
              <a:gd name="adj" fmla="val 9000"/>
            </a:avLst>
          </a:prstGeom>
          <a:solidFill>
            <a:srgbClr val="A87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EJEMPLOS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X (12.240, 16, 17)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y (12.240, 17)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10928" y="4114800"/>
            <a:ext cx="1965960" cy="1097280"/>
          </a:xfrm>
          <a:prstGeom prst="roundRect">
            <a:avLst>
              <a:gd name="adj" fmla="val 9000"/>
            </a:avLst>
          </a:prstGeom>
          <a:solidFill>
            <a:srgbClr val="5E8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LOTES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(256, 16, 17)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barajados, a la red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569464" y="4663440"/>
            <a:ext cx="246888" cy="0"/>
          </a:xfrm>
          <a:prstGeom prst="line">
            <a:avLst/>
          </a:prstGeom>
          <a:ln w="2540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855464" y="4663440"/>
            <a:ext cx="246887" cy="0"/>
          </a:xfrm>
          <a:prstGeom prst="line">
            <a:avLst/>
          </a:prstGeom>
          <a:ln w="2540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141464" y="4663440"/>
            <a:ext cx="246888" cy="0"/>
          </a:xfrm>
          <a:prstGeom prst="line">
            <a:avLst/>
          </a:prstGeom>
          <a:ln w="2540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427463" y="4663440"/>
            <a:ext cx="246889" cy="0"/>
          </a:xfrm>
          <a:prstGeom prst="line">
            <a:avLst/>
          </a:prstGeom>
          <a:ln w="2540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8640" y="5330952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1">
                <a:solidFill>
                  <a:srgbClr val="3A4B5C"/>
                </a:solidFill>
                <a:latin typeface="Calibri"/>
              </a:rPr>
              <a:t>cada lote mezcla ventanas de secuencias y movimientos distintos: la red aprende una regla general, no el orden del dataset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72944" y="6163056"/>
            <a:ext cx="8045805" cy="45720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Entrenar = 12.240 ejemplos sueltos y barajados   ·   Generar = un bucle, una pose tras otra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IV · 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La arquitectura por dentro: tiempo × capas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la MISMA celda repetida en el tiempo y apilada en capas — puedes mover cada celda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920239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4A6274"/>
                </a:solidFill>
                <a:latin typeface="Calibri"/>
              </a:rPr>
              <a:t>Capa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79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4A6274"/>
                </a:solidFill>
                <a:latin typeface="Calibri"/>
              </a:rPr>
              <a:t>Capa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A4B5C"/>
                </a:solidFill>
                <a:latin typeface="Calibri"/>
              </a:rPr>
              <a:t>entrada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34540" y="3794759"/>
            <a:ext cx="14173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240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B2430"/>
                </a:solidFill>
                <a:latin typeface="Calibri"/>
              </a:rPr>
              <a:t>pose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4540" y="2743200"/>
            <a:ext cx="1417320" cy="731520"/>
          </a:xfrm>
          <a:prstGeom prst="roundRect">
            <a:avLst>
              <a:gd name="adj" fmla="val 18000"/>
            </a:avLst>
          </a:prstGeom>
          <a:solidFill>
            <a:srgbClr val="4A6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celda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1737360"/>
            <a:ext cx="1417320" cy="731520"/>
          </a:xfrm>
          <a:prstGeom prst="roundRect">
            <a:avLst>
              <a:gd name="adj" fmla="val 18000"/>
            </a:avLst>
          </a:prstGeom>
          <a:solidFill>
            <a:srgbClr val="4A6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celda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43200" y="3474720"/>
            <a:ext cx="0" cy="320039"/>
          </a:xfrm>
          <a:prstGeom prst="line">
            <a:avLst/>
          </a:prstGeom>
          <a:ln w="2032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743200" y="2468879"/>
            <a:ext cx="0" cy="274321"/>
          </a:xfrm>
          <a:prstGeom prst="line">
            <a:avLst/>
          </a:prstGeom>
          <a:ln w="2032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71900" y="3794759"/>
            <a:ext cx="14173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240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B2430"/>
                </a:solidFill>
                <a:latin typeface="Calibri"/>
              </a:rPr>
              <a:t>pose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71900" y="2743200"/>
            <a:ext cx="1417320" cy="731520"/>
          </a:xfrm>
          <a:prstGeom prst="roundRect">
            <a:avLst>
              <a:gd name="adj" fmla="val 18000"/>
            </a:avLst>
          </a:prstGeom>
          <a:solidFill>
            <a:srgbClr val="4A6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celda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71900" y="1737360"/>
            <a:ext cx="1417320" cy="731520"/>
          </a:xfrm>
          <a:prstGeom prst="roundRect">
            <a:avLst>
              <a:gd name="adj" fmla="val 18000"/>
            </a:avLst>
          </a:prstGeom>
          <a:solidFill>
            <a:srgbClr val="4A6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celda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480560" y="3474720"/>
            <a:ext cx="0" cy="320039"/>
          </a:xfrm>
          <a:prstGeom prst="line">
            <a:avLst/>
          </a:prstGeom>
          <a:ln w="2032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480560" y="2468879"/>
            <a:ext cx="0" cy="274321"/>
          </a:xfrm>
          <a:prstGeom prst="line">
            <a:avLst/>
          </a:prstGeom>
          <a:ln w="2032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0" y="39319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8A8F98"/>
                </a:solidFill>
                <a:latin typeface="Calibri"/>
              </a:rPr>
              <a:t>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8803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8A8F98"/>
                </a:solidFill>
                <a:latin typeface="Calibri"/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874519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8A8F98"/>
                </a:solidFill>
                <a:latin typeface="Calibri"/>
              </a:rPr>
              <a:t>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72300" y="3794759"/>
            <a:ext cx="14173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240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B2430"/>
                </a:solidFill>
                <a:latin typeface="Calibri"/>
              </a:rPr>
              <a:t>pose 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2300" y="2743200"/>
            <a:ext cx="1417320" cy="731520"/>
          </a:xfrm>
          <a:prstGeom prst="roundRect">
            <a:avLst>
              <a:gd name="adj" fmla="val 18000"/>
            </a:avLst>
          </a:prstGeom>
          <a:solidFill>
            <a:srgbClr val="4A6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celda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72300" y="1737360"/>
            <a:ext cx="1417320" cy="731520"/>
          </a:xfrm>
          <a:prstGeom prst="roundRect">
            <a:avLst>
              <a:gd name="adj" fmla="val 18000"/>
            </a:avLst>
          </a:prstGeom>
          <a:solidFill>
            <a:srgbClr val="4A6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celda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680960" y="3474720"/>
            <a:ext cx="0" cy="320039"/>
          </a:xfrm>
          <a:prstGeom prst="line">
            <a:avLst/>
          </a:prstGeom>
          <a:ln w="2032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680960" y="2468879"/>
            <a:ext cx="0" cy="274321"/>
          </a:xfrm>
          <a:prstGeom prst="line">
            <a:avLst/>
          </a:prstGeom>
          <a:ln w="2032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51860" y="3108960"/>
            <a:ext cx="320040" cy="0"/>
          </a:xfrm>
          <a:prstGeom prst="line">
            <a:avLst/>
          </a:prstGeom>
          <a:ln w="20320">
            <a:solidFill>
              <a:srgbClr val="A854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51860" y="2103120"/>
            <a:ext cx="320040" cy="0"/>
          </a:xfrm>
          <a:prstGeom prst="line">
            <a:avLst/>
          </a:prstGeom>
          <a:ln w="20320">
            <a:solidFill>
              <a:srgbClr val="A854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52260" y="3108960"/>
            <a:ext cx="320040" cy="0"/>
          </a:xfrm>
          <a:prstGeom prst="line">
            <a:avLst/>
          </a:prstGeom>
          <a:ln w="20320">
            <a:solidFill>
              <a:srgbClr val="A854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52260" y="2103120"/>
            <a:ext cx="320040" cy="0"/>
          </a:xfrm>
          <a:prstGeom prst="line">
            <a:avLst/>
          </a:prstGeom>
          <a:ln w="20320">
            <a:solidFill>
              <a:srgbClr val="A854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189220" y="3108960"/>
            <a:ext cx="297180" cy="0"/>
          </a:xfrm>
          <a:prstGeom prst="line">
            <a:avLst/>
          </a:prstGeom>
          <a:ln w="20320">
            <a:solidFill>
              <a:srgbClr val="A854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89220" y="2103120"/>
            <a:ext cx="297180" cy="0"/>
          </a:xfrm>
          <a:prstGeom prst="line">
            <a:avLst/>
          </a:prstGeom>
          <a:ln w="20320">
            <a:solidFill>
              <a:srgbClr val="A854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356701" y="1504187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 dirty="0">
                <a:solidFill>
                  <a:srgbClr val="A85448"/>
                </a:solidFill>
                <a:latin typeface="Calibri"/>
              </a:rPr>
              <a:t>→  la memoria (la </a:t>
            </a:r>
            <a:r>
              <a:rPr sz="1050" b="1" i="0" dirty="0" err="1">
                <a:solidFill>
                  <a:srgbClr val="A85448"/>
                </a:solidFill>
                <a:latin typeface="Calibri"/>
              </a:rPr>
              <a:t>cinta</a:t>
            </a:r>
            <a:r>
              <a:rPr sz="1050" b="1" i="0" dirty="0">
                <a:solidFill>
                  <a:srgbClr val="A85448"/>
                </a:solidFill>
                <a:latin typeface="Calibri"/>
              </a:rPr>
              <a:t> C / h) </a:t>
            </a:r>
            <a:r>
              <a:rPr sz="1050" b="1" i="0" dirty="0" err="1">
                <a:solidFill>
                  <a:srgbClr val="A85448"/>
                </a:solidFill>
                <a:latin typeface="Calibri"/>
              </a:rPr>
              <a:t>pasa</a:t>
            </a:r>
            <a:r>
              <a:rPr sz="1050" b="1" i="0" dirty="0">
                <a:solidFill>
                  <a:srgbClr val="A85448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A85448"/>
                </a:solidFill>
                <a:latin typeface="Calibri"/>
              </a:rPr>
              <a:t>en</a:t>
            </a:r>
            <a:r>
              <a:rPr sz="1050" b="1" i="0" dirty="0">
                <a:solidFill>
                  <a:srgbClr val="A85448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A85448"/>
                </a:solidFill>
                <a:latin typeface="Calibri"/>
              </a:rPr>
              <a:t>el</a:t>
            </a:r>
            <a:r>
              <a:rPr sz="1050" b="1" i="0" dirty="0">
                <a:solidFill>
                  <a:srgbClr val="A85448"/>
                </a:solidFill>
                <a:latin typeface="Calibri"/>
              </a:rPr>
              <a:t> TIEMPO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417320" y="2103120"/>
            <a:ext cx="0" cy="2057400"/>
          </a:xfrm>
          <a:prstGeom prst="line">
            <a:avLst/>
          </a:prstGeom>
          <a:ln w="20320">
            <a:solidFill>
              <a:srgbClr val="4A62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60120" y="281177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4A6274"/>
                </a:solidFill>
                <a:latin typeface="Calibri"/>
              </a:rPr>
              <a:t>apilar</a:t>
            </a:r>
          </a:p>
          <a:p>
            <a:pPr algn="ctr"/>
            <a:r>
              <a:rPr sz="950" b="1" i="0">
                <a:solidFill>
                  <a:srgbClr val="4A6274"/>
                </a:solidFill>
                <a:latin typeface="Calibri"/>
              </a:rPr>
              <a:t>capas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389620" y="2103120"/>
            <a:ext cx="160020" cy="0"/>
          </a:xfrm>
          <a:prstGeom prst="line">
            <a:avLst/>
          </a:prstGeom>
          <a:ln w="2032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572500" y="1737360"/>
            <a:ext cx="1417320" cy="731520"/>
          </a:xfrm>
          <a:prstGeom prst="roundRect">
            <a:avLst>
              <a:gd name="adj" fmla="val 18000"/>
            </a:avLst>
          </a:prstGeom>
          <a:solidFill>
            <a:srgbClr val="7A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último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paso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989820" y="2103120"/>
            <a:ext cx="68580" cy="0"/>
          </a:xfrm>
          <a:prstGeom prst="line">
            <a:avLst/>
          </a:prstGeom>
          <a:ln w="20320">
            <a:solidFill>
              <a:srgbClr val="5E8B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149840" y="1737360"/>
            <a:ext cx="1371600" cy="731520"/>
          </a:xfrm>
          <a:prstGeom prst="roundRect">
            <a:avLst>
              <a:gd name="adj" fmla="val 18000"/>
            </a:avLst>
          </a:prstGeom>
          <a:solidFill>
            <a:srgbClr val="5E8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Densa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→ 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256032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7A8B96"/>
                </a:solidFill>
                <a:latin typeface="Calibri"/>
              </a:rPr>
              <a:t>vector de 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25603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5E8B72"/>
                </a:solidFill>
                <a:latin typeface="Calibri"/>
              </a:rPr>
              <a:t>17 números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89204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A87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rIns="152400" rtlCol="0" anchor="ctr"/>
          <a:lstStyle/>
          <a:p>
            <a:pPr algn="ctr"/>
            <a:r>
              <a:rPr sz="1300" b="1">
                <a:solidFill>
                  <a:srgbClr val="A8763E"/>
                </a:solidFill>
                <a:latin typeface="Calibri"/>
              </a:rPr>
              <a:t>¿Por qué la salida es 64?  </a:t>
            </a:r>
            <a:r>
              <a:rPr sz="1200">
                <a:solidFill>
                  <a:srgbClr val="1B2430"/>
                </a:solidFill>
                <a:latin typeface="Calibri"/>
              </a:rPr>
              <a:t>cada celda tiene 64 unidades ocultas (hidden_size), un valor que ELEGIMOS: convierte el vector de 17 en uno de 64 — su “memoria interna”.</a:t>
            </a:r>
          </a:p>
          <a:p>
            <a:pPr algn="ctr"/>
            <a:r>
              <a:rPr sz="1150" i="1">
                <a:solidFill>
                  <a:srgbClr val="3A4B5C"/>
                </a:solidFill>
                <a:latin typeface="Calibri"/>
              </a:rPr>
              <a:t>Por eso el “último paso” es un vector de 64, que entra en una red densa (64 → 17). Es idéntico en RNN, LSTM y GRU.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35250" y="6163056"/>
            <a:ext cx="7721193" cy="45720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Puedes mover cada celda: la estructura no cambia entre RNN, LSTM y GRU; sólo su interior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IV · 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Análisis dimensional: ¿de dónde sale el 64?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la forma del dato en cada paso; es idéntica para RNN, LSTM y GRU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dim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65" y="1600200"/>
            <a:ext cx="9153163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IV · 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Las tres celdas: por qué compuertas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una RNN simple 'olvida'; LSTM y GRU añaden compuertas que deciden qué recordar y qué olvidar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783080"/>
            <a:ext cx="3520440" cy="502920"/>
          </a:xfrm>
          <a:prstGeom prst="roundRect">
            <a:avLst>
              <a:gd name="adj" fmla="val 8000"/>
            </a:avLst>
          </a:prstGeom>
          <a:solidFill>
            <a:srgbClr val="3A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SIMPLE RNN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3A4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487168"/>
            <a:ext cx="3200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0 compuertas — una sola memoria</a:t>
            </a:r>
          </a:p>
          <a:p>
            <a:pPr algn="l"/>
            <a:endParaRPr sz="1050" b="0" i="0">
              <a:solidFill>
                <a:srgbClr val="1B2430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h(t) = tanh( Wx·x + Wh·h + b )</a:t>
            </a:r>
          </a:p>
          <a:p>
            <a:pPr algn="l"/>
            <a:endParaRPr sz="1050" b="0" i="0">
              <a:solidFill>
                <a:srgbClr val="1B2430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Sin memoria protegida: sufre el</a:t>
            </a: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desvanecimiento del gradiente y</a:t>
            </a: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olvida el pasado lejano.</a:t>
            </a:r>
          </a:p>
          <a:p>
            <a:pPr algn="l"/>
            <a:endParaRPr sz="1050" b="0" i="0">
              <a:solidFill>
                <a:srgbClr val="1B2430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≈ 18.900 parámetros</a:t>
            </a: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la más rápida · la menos precisa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783080"/>
            <a:ext cx="3520440" cy="502920"/>
          </a:xfrm>
          <a:prstGeom prst="roundRect">
            <a:avLst>
              <a:gd name="adj" fmla="val 8000"/>
            </a:avLst>
          </a:prstGeom>
          <a:solidFill>
            <a:srgbClr val="4A6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331720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4A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7407" y="2487168"/>
            <a:ext cx="3200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3 compuertas + memoria de</a:t>
            </a: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largo plazo (celda C)</a:t>
            </a:r>
          </a:p>
          <a:p>
            <a:pPr algn="l"/>
            <a:endParaRPr sz="1050" b="0" i="0">
              <a:solidFill>
                <a:srgbClr val="1B2430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• forget: qué borrar de la memoria</a:t>
            </a: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• input: qué escribir nuevo</a:t>
            </a: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• output: qué parte exponer</a:t>
            </a:r>
          </a:p>
          <a:p>
            <a:pPr algn="l"/>
            <a:endParaRPr sz="1050" b="0" i="0">
              <a:solidFill>
                <a:srgbClr val="1B2430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La más potente y la más pesada</a:t>
            </a: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≈ 59.800 parámetros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783080"/>
            <a:ext cx="3520440" cy="502920"/>
          </a:xfrm>
          <a:prstGeom prst="roundRect">
            <a:avLst>
              <a:gd name="adj" fmla="val 8000"/>
            </a:avLst>
          </a:prstGeom>
          <a:solidFill>
            <a:srgbClr val="5E8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GRU  (elegida)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331720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5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0728" y="2487168"/>
            <a:ext cx="3200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2 compuertas (memoria fusionada)</a:t>
            </a:r>
          </a:p>
          <a:p>
            <a:pPr algn="l"/>
            <a:endParaRPr sz="1050" b="0" i="0">
              <a:solidFill>
                <a:srgbClr val="1B2430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• update: cuánto conservar del</a:t>
            </a: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   pasado frente a lo nuevo</a:t>
            </a: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• reset: cuánto ignorar del pasado</a:t>
            </a:r>
          </a:p>
          <a:p>
            <a:pPr algn="l"/>
            <a:endParaRPr sz="1050" b="0" i="0">
              <a:solidFill>
                <a:srgbClr val="1B2430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Rendimiento ≈ LSTM con</a:t>
            </a: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menos parámetros</a:t>
            </a:r>
          </a:p>
          <a:p>
            <a:pPr algn="l"/>
            <a:r>
              <a:rPr sz="1050" b="0" i="0">
                <a:solidFill>
                  <a:srgbClr val="1B2430"/>
                </a:solidFill>
                <a:latin typeface="Calibri"/>
              </a:rPr>
              <a:t>≈ 46.200 parámetros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74920"/>
            <a:ext cx="35204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3A4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3A4B5C"/>
                </a:solidFill>
                <a:latin typeface="Calibri"/>
              </a:rPr>
              <a:t>MAE 1,94 · la más rápida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5074920"/>
            <a:ext cx="35204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4A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4A6274"/>
                </a:solidFill>
                <a:latin typeface="Calibri"/>
              </a:rPr>
              <a:t>MAE 1,64 · el mejor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5074920"/>
            <a:ext cx="3520440" cy="502920"/>
          </a:xfrm>
          <a:prstGeom prst="roundRect">
            <a:avLst>
              <a:gd name="adj" fmla="val 8000"/>
            </a:avLst>
          </a:prstGeom>
          <a:solidFill>
            <a:srgbClr val="5E8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MAE 1,66 · el mejor equilibrio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IV · 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Por qué ESTA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cada decisión de diseño responde a una pregunta típica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41605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 marL="101600" marR="101600" marT="12700" marB="12700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marL="101600" marR="101600" marT="12700" marB="12700" anchor="ctr">
                    <a:solidFill>
                      <a:srgbClr val="1B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763E"/>
                          </a:solidFill>
                          <a:latin typeface="Calibri"/>
                        </a:rPr>
                        <a:t>Ventana de 16 poses</a:t>
                      </a:r>
                    </a:p>
                  </a:txBody>
                  <a:tcPr marL="101600" marR="1016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B5C"/>
                          </a:solidFill>
                          <a:latin typeface="Calibri"/>
                        </a:rPr>
                        <a:t>la pose siguiente depende del pasado reciente: el ritmo del movimiento, no un solo fotograma</a:t>
                      </a:r>
                    </a:p>
                  </a:txBody>
                  <a:tcPr marL="101600" marR="1016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763E"/>
                          </a:solidFill>
                          <a:latin typeface="Calibri"/>
                        </a:rPr>
                        <a:t>2 capas recurrentes</a:t>
                      </a:r>
                    </a:p>
                  </a:txBody>
                  <a:tcPr marL="101600" marR="1016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B5C"/>
                          </a:solidFill>
                          <a:latin typeface="Calibri"/>
                        </a:rPr>
                        <a:t>la 1ª capta patrones temporales simples; la 2ª los combina en otros más abstractos (3+ no mejoraba)</a:t>
                      </a:r>
                    </a:p>
                  </a:txBody>
                  <a:tcPr marL="101600" marR="1016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763E"/>
                          </a:solidFill>
                          <a:latin typeface="Calibri"/>
                        </a:rPr>
                        <a:t>64 unidades ocultas</a:t>
                      </a:r>
                    </a:p>
                  </a:txBody>
                  <a:tcPr marL="101600" marR="1016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B5C"/>
                          </a:solidFill>
                          <a:latin typeface="Calibri"/>
                        </a:rPr>
                        <a:t>capacidad justa para un estado de 17 variables y un dataset pequeño y limpio</a:t>
                      </a:r>
                    </a:p>
                  </a:txBody>
                  <a:tcPr marL="101600" marR="1016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763E"/>
                          </a:solidFill>
                          <a:latin typeface="Calibri"/>
                        </a:rPr>
                        <a:t>Se toma el último paso</a:t>
                      </a:r>
                    </a:p>
                  </a:txBody>
                  <a:tcPr marL="101600" marR="1016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B5C"/>
                          </a:solidFill>
                          <a:latin typeface="Calibri"/>
                        </a:rPr>
                        <a:t>ese vector resume TODA la ventana; queremos una sola pose, no una por fotograma</a:t>
                      </a:r>
                    </a:p>
                  </a:txBody>
                  <a:tcPr marL="101600" marR="1016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763E"/>
                          </a:solidFill>
                          <a:latin typeface="Calibri"/>
                        </a:rPr>
                        <a:t>Cabeza densa + ReLU</a:t>
                      </a:r>
                    </a:p>
                  </a:txBody>
                  <a:tcPr marL="101600" marR="1016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B5C"/>
                          </a:solidFill>
                          <a:latin typeface="Calibri"/>
                        </a:rPr>
                        <a:t>traduce el resumen temporal a los 17 números, con capacidad no lineal</a:t>
                      </a:r>
                    </a:p>
                  </a:txBody>
                  <a:tcPr marL="101600" marR="1016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763E"/>
                          </a:solidFill>
                          <a:latin typeface="Calibri"/>
                        </a:rPr>
                        <a:t>Dropout 0.1</a:t>
                      </a:r>
                    </a:p>
                  </a:txBody>
                  <a:tcPr marL="101600" marR="1016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B5C"/>
                          </a:solidFill>
                          <a:latin typeface="Calibri"/>
                        </a:rPr>
                        <a:t>regularización ligera entre capas: evita memorizar</a:t>
                      </a:r>
                    </a:p>
                  </a:txBody>
                  <a:tcPr marL="101600" marR="1016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763E"/>
                          </a:solidFill>
                          <a:latin typeface="Calibri"/>
                        </a:rPr>
                        <a:t>Pérdida MSE</a:t>
                      </a:r>
                    </a:p>
                  </a:txBody>
                  <a:tcPr marL="101600" marR="1016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B5C"/>
                          </a:solidFill>
                          <a:latin typeface="Calibri"/>
                        </a:rPr>
                        <a:t>es una regresión de valores continuos (grados y píxeles)</a:t>
                      </a:r>
                    </a:p>
                  </a:txBody>
                  <a:tcPr marL="101600" marR="1016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763E"/>
                          </a:solidFill>
                          <a:latin typeface="Calibri"/>
                        </a:rPr>
                        <a:t>Adam · 15 épocas</a:t>
                      </a:r>
                    </a:p>
                  </a:txBody>
                  <a:tcPr marL="101600" marR="1016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B5C"/>
                          </a:solidFill>
                          <a:latin typeface="Calibri"/>
                        </a:rPr>
                        <a:t>optimizador estándar; converge rápido y estable</a:t>
                      </a:r>
                    </a:p>
                  </a:txBody>
                  <a:tcPr marL="101600" marR="1016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763E"/>
                          </a:solidFill>
                          <a:latin typeface="Calibri"/>
                        </a:rPr>
                        <a:t>Unidireccional</a:t>
                      </a:r>
                    </a:p>
                  </a:txBody>
                  <a:tcPr marL="101600" marR="1016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B5C"/>
                          </a:solidFill>
                          <a:latin typeface="Calibri"/>
                        </a:rPr>
                        <a:t>la generación es causal: al predecir el futuro no se puede mirar hacia delante</a:t>
                      </a:r>
                    </a:p>
                  </a:txBody>
                  <a:tcPr marL="101600" marR="1016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763E"/>
                          </a:solidFill>
                          <a:latin typeface="Calibri"/>
                        </a:rPr>
                        <a:t>Normalización z-score</a:t>
                      </a:r>
                    </a:p>
                  </a:txBody>
                  <a:tcPr marL="101600" marR="101600" marT="12700" marB="12700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B5C"/>
                          </a:solidFill>
                          <a:latin typeface="Calibri"/>
                        </a:rPr>
                        <a:t>píxeles (~400) y grados (0–140) a la misma escala para que el MSE los pese por igual</a:t>
                      </a:r>
                    </a:p>
                  </a:txBody>
                  <a:tcPr marL="101600" marR="1016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189177" y="6163056"/>
            <a:ext cx="9813340" cy="45720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Modelo compacto (~46.000 parámetros) y decisiones sencillas: potencia justa para el problema, sin sobredimensionar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V · LOS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¿Qué devuelve la red y cómo se interpreta?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no devuelve una imagen: devuelve 17 números que después convertimos en dibujo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73736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3A4B5C"/>
                </a:solidFill>
                <a:latin typeface="Calibri"/>
              </a:rPr>
              <a:t>1 · lo que sale de la red</a:t>
            </a:r>
          </a:p>
          <a:p>
            <a:pPr algn="ctr"/>
            <a:r>
              <a:rPr sz="1150" b="1" i="0">
                <a:solidFill>
                  <a:srgbClr val="3A4B5C"/>
                </a:solidFill>
                <a:latin typeface="Calibri"/>
              </a:rPr>
              <a:t>(normalizado)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31720"/>
          <a:ext cx="3291840" cy="3108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root_x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-0.57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root_y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-0.17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torso_angle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1.50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right_hip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2.83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right_knee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-0.76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0.33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0" y="173736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A8763E"/>
                </a:solidFill>
                <a:latin typeface="Calibri"/>
              </a:rPr>
              <a:t>2 · al deshacer la normalización</a:t>
            </a:r>
          </a:p>
          <a:p>
            <a:pPr algn="ctr"/>
            <a:r>
              <a:rPr sz="1150" b="1" i="0">
                <a:solidFill>
                  <a:srgbClr val="A8763E"/>
                </a:solidFill>
                <a:latin typeface="Calibri"/>
              </a:rPr>
              <a:t>(grados y píxeles)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0" y="2331720"/>
          <a:ext cx="3291840" cy="3108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root_x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397.5 px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root_y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247.3 px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torso_angle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9.4°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right_hip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96.6°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right_knee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9.0°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A4B5C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80960" y="1737360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5E8B72"/>
                </a:solidFill>
                <a:latin typeface="Calibri"/>
              </a:rPr>
              <a:t>3 · se dibuja con cinemática directa</a:t>
            </a:r>
          </a:p>
          <a:p>
            <a:pPr algn="ctr"/>
            <a:r>
              <a:rPr sz="1150" b="1" i="0">
                <a:solidFill>
                  <a:srgbClr val="5E8B72"/>
                </a:solidFill>
                <a:latin typeface="Calibri"/>
              </a:rPr>
              <a:t>(el fotograma predicho)</a:t>
            </a:r>
          </a:p>
        </p:txBody>
      </p:sp>
      <p:pic>
        <p:nvPicPr>
          <p:cNvPr id="11" name="Picture 10" descr="pred_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174" y="2286000"/>
            <a:ext cx="1980930" cy="329184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3886200" y="3840480"/>
            <a:ext cx="182880" cy="0"/>
          </a:xfrm>
          <a:prstGeom prst="line">
            <a:avLst/>
          </a:prstGeom>
          <a:ln w="2540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52360" y="3840480"/>
            <a:ext cx="182880" cy="0"/>
          </a:xfrm>
          <a:prstGeom prst="line">
            <a:avLst/>
          </a:prstGeom>
          <a:ln w="2540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828800" y="6163056"/>
            <a:ext cx="8534095" cy="45720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Para ver la animación: repetir estos 3 pasos por fotograma  ·  notebook, Sección 11 (reproductor)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V · LOS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La red reproduce el movimiento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se le dan 16 fotogramas de semilla y genera el resto ella sola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78308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3A4B5C"/>
                </a:solidFill>
                <a:latin typeface="Calibri"/>
              </a:rPr>
              <a:t>ORIGINAL · generador matemático</a:t>
            </a:r>
          </a:p>
        </p:txBody>
      </p:sp>
      <p:pic>
        <p:nvPicPr>
          <p:cNvPr id="7" name="Picture 6" descr="ro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77" y="2148840"/>
            <a:ext cx="728164" cy="1417320"/>
          </a:xfrm>
          <a:prstGeom prst="rect">
            <a:avLst/>
          </a:prstGeom>
        </p:spPr>
      </p:pic>
      <p:pic>
        <p:nvPicPr>
          <p:cNvPr id="8" name="Picture 7" descr="ro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437" y="2148840"/>
            <a:ext cx="728164" cy="1417320"/>
          </a:xfrm>
          <a:prstGeom prst="rect">
            <a:avLst/>
          </a:prstGeom>
        </p:spPr>
      </p:pic>
      <p:pic>
        <p:nvPicPr>
          <p:cNvPr id="9" name="Picture 8" descr="ro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997" y="2148840"/>
            <a:ext cx="728164" cy="1417320"/>
          </a:xfrm>
          <a:prstGeom prst="rect">
            <a:avLst/>
          </a:prstGeom>
        </p:spPr>
      </p:pic>
      <p:pic>
        <p:nvPicPr>
          <p:cNvPr id="10" name="Picture 9" descr="ro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3557" y="2148840"/>
            <a:ext cx="728164" cy="1417320"/>
          </a:xfrm>
          <a:prstGeom prst="rect">
            <a:avLst/>
          </a:prstGeom>
        </p:spPr>
      </p:pic>
      <p:pic>
        <p:nvPicPr>
          <p:cNvPr id="11" name="Picture 10" descr="ro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117" y="2148840"/>
            <a:ext cx="728164" cy="1417320"/>
          </a:xfrm>
          <a:prstGeom prst="rect">
            <a:avLst/>
          </a:prstGeom>
        </p:spPr>
      </p:pic>
      <p:pic>
        <p:nvPicPr>
          <p:cNvPr id="12" name="Picture 11" descr="ro3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6677" y="2148840"/>
            <a:ext cx="728164" cy="1417320"/>
          </a:xfrm>
          <a:prstGeom prst="rect">
            <a:avLst/>
          </a:prstGeom>
        </p:spPr>
      </p:pic>
      <p:pic>
        <p:nvPicPr>
          <p:cNvPr id="13" name="Picture 12" descr="ro3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8237" y="2148840"/>
            <a:ext cx="728164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4747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5E8B72"/>
                </a:solidFill>
                <a:latin typeface="Calibri"/>
              </a:rPr>
              <a:t>GENERADO POR LA RED · autoregresivo</a:t>
            </a:r>
          </a:p>
        </p:txBody>
      </p:sp>
      <p:pic>
        <p:nvPicPr>
          <p:cNvPr id="15" name="Picture 14" descr="rg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877" y="3840480"/>
            <a:ext cx="728164" cy="1417320"/>
          </a:xfrm>
          <a:prstGeom prst="rect">
            <a:avLst/>
          </a:prstGeom>
        </p:spPr>
      </p:pic>
      <p:pic>
        <p:nvPicPr>
          <p:cNvPr id="16" name="Picture 15" descr="rg2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0437" y="3840480"/>
            <a:ext cx="728164" cy="1417320"/>
          </a:xfrm>
          <a:prstGeom prst="rect">
            <a:avLst/>
          </a:prstGeom>
        </p:spPr>
      </p:pic>
      <p:pic>
        <p:nvPicPr>
          <p:cNvPr id="17" name="Picture 16" descr="rg2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1997" y="3840480"/>
            <a:ext cx="728164" cy="1417320"/>
          </a:xfrm>
          <a:prstGeom prst="rect">
            <a:avLst/>
          </a:prstGeom>
        </p:spPr>
      </p:pic>
      <p:pic>
        <p:nvPicPr>
          <p:cNvPr id="18" name="Picture 17" descr="rg2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3557" y="3840480"/>
            <a:ext cx="728164" cy="1417320"/>
          </a:xfrm>
          <a:prstGeom prst="rect">
            <a:avLst/>
          </a:prstGeom>
        </p:spPr>
      </p:pic>
      <p:pic>
        <p:nvPicPr>
          <p:cNvPr id="19" name="Picture 18" descr="rg3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5117" y="3840480"/>
            <a:ext cx="728164" cy="1417320"/>
          </a:xfrm>
          <a:prstGeom prst="rect">
            <a:avLst/>
          </a:prstGeom>
        </p:spPr>
      </p:pic>
      <p:pic>
        <p:nvPicPr>
          <p:cNvPr id="20" name="Picture 19" descr="rg3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6677" y="3840480"/>
            <a:ext cx="728164" cy="1417320"/>
          </a:xfrm>
          <a:prstGeom prst="rect">
            <a:avLst/>
          </a:prstGeom>
        </p:spPr>
      </p:pic>
      <p:pic>
        <p:nvPicPr>
          <p:cNvPr id="21" name="Picture 20" descr="rg3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8237" y="3840480"/>
            <a:ext cx="728164" cy="1417320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686800" y="2148840"/>
          <a:ext cx="301752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430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6200" marR="76200" marT="12700" marB="12700" anchor="ctr"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B2430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76200" marR="76200" marT="12700" marB="12700" anchor="ctr"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B2430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76200" marR="76200" marT="12700" marB="12700" anchor="ctr">
                    <a:solidFill>
                      <a:srgbClr val="EDE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4B5C"/>
                          </a:solidFill>
                          <a:latin typeface="Calibri"/>
                        </a:rPr>
                        <a:t>RNN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A4B5C"/>
                          </a:solidFill>
                          <a:latin typeface="Calibri"/>
                        </a:rPr>
                        <a:t>1.94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A4B5C"/>
                          </a:solidFill>
                          <a:latin typeface="Calibri"/>
                        </a:rPr>
                        <a:t>3.63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8B72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L="76200" marR="76200" marT="12700" marB="12700" anchor="ctr">
                    <a:solidFill>
                      <a:srgbClr val="E7EE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E8B72"/>
                          </a:solidFill>
                          <a:latin typeface="Calibri"/>
                        </a:rPr>
                        <a:t>1.64</a:t>
                      </a:r>
                    </a:p>
                  </a:txBody>
                  <a:tcPr marL="76200" marR="76200" marT="12700" marB="12700" anchor="ctr">
                    <a:solidFill>
                      <a:srgbClr val="E7EE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E8B72"/>
                          </a:solidFill>
                          <a:latin typeface="Calibri"/>
                        </a:rPr>
                        <a:t>2.90</a:t>
                      </a:r>
                    </a:p>
                  </a:txBody>
                  <a:tcPr marL="76200" marR="76200" marT="12700" marB="12700" anchor="ctr">
                    <a:solidFill>
                      <a:srgbClr val="E7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4B5C"/>
                          </a:solidFill>
                          <a:latin typeface="Calibri"/>
                        </a:rPr>
                        <a:t>GRU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A4B5C"/>
                          </a:solidFill>
                          <a:latin typeface="Calibri"/>
                        </a:rPr>
                        <a:t>1.66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A4B5C"/>
                          </a:solidFill>
                          <a:latin typeface="Calibri"/>
                        </a:rPr>
                        <a:t>3.07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686800" y="41148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A8763E"/>
                </a:solidFill>
                <a:latin typeface="Calibri"/>
              </a:rPr>
              <a:t>error medio: 1,4°  ·  imperceptible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35708" y="6163056"/>
            <a:ext cx="7720279" cy="45720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Reproduce los 10 movimientos  ·  y encadena acciones a demanda: correr, saltar y atacar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763E"/>
                </a:solidFill>
                <a:latin typeface="Calibri"/>
              </a:rPr>
              <a:t>V · LOS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En movimiento: original vs. generado por la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F98"/>
                </a:solidFill>
                <a:latin typeface="Calibri"/>
              </a:rPr>
              <a:t>la misma patada; a la izquierda el generador, a la derecha la red (en bucle)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91672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resultado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47" y="1600200"/>
            <a:ext cx="68580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991563" y="6163056"/>
            <a:ext cx="8208568" cy="45720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La red arranca con 16 fotogramas de semilla y genera el resto: el movimiento es casi idéntico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1878</Words>
  <Application>Microsoft Macintosh PowerPoint</Application>
  <PresentationFormat>Panorámica</PresentationFormat>
  <Paragraphs>368</Paragraphs>
  <Slides>17</Slides>
  <Notes>0</Notes>
  <HiddenSlides>2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Andrés Zúñiga Delgado</cp:lastModifiedBy>
  <cp:revision>3</cp:revision>
  <dcterms:created xsi:type="dcterms:W3CDTF">2013-01-27T09:14:16Z</dcterms:created>
  <dcterms:modified xsi:type="dcterms:W3CDTF">2026-07-24T05:21:45Z</dcterms:modified>
  <cp:category/>
</cp:coreProperties>
</file>